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1E3A52">
              <a:alpha val="7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3840480" cy="3840480"/>
          </a:xfrm>
          <a:prstGeom prst="ellipse">
            <a:avLst/>
          </a:prstGeom>
          <a:solidFill>
            <a:srgbClr val="00C2CB">
              <a:alpha val="20000"/>
            </a:srgbClr>
          </a:solidFill>
          <a:ln w="6350">
            <a:solidFill>
              <a:srgbClr val="5CE1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5720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57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AI-POWERED LEARNING SYSTEM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Study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lecture PDF → Get a full AI-powered study guide.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specialized agents. Real-time delivery. Science-backed retention.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611880"/>
            <a:ext cx="1554480" cy="64008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" y="38770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4E0"/>
                </a:solidFill>
              </a:rPr>
              <a:t>AI Agents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48840" y="3611880"/>
            <a:ext cx="1554480" cy="64008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4884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SM-2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48840" y="38770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4E0"/>
                </a:solidFill>
              </a:rPr>
              <a:t>Algorithm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77640" y="3611880"/>
            <a:ext cx="1554480" cy="64008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7764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100%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77640" y="38770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D4E0"/>
                </a:solidFill>
              </a:rPr>
              <a:t>Persistent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8C0"/>
                </a:solidFill>
              </a:rPr>
              <a:t>github.com/manvitha2301cs29/Student-Study-Assistant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Problem Every Student Faces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9748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CB"/>
                </a:solidFill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Hard to Understand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578608"/>
            <a:ext cx="105156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69748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D4E0"/>
                </a:solidFill>
              </a:rPr>
              <a:t>Dense lecture notes are hard to parse alone — without context or examples, key concepts don't stick.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9748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234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CB"/>
                </a:solidFill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Lacking Depth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23360" y="2578608"/>
            <a:ext cx="105156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69748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D4E0"/>
                </a:solidFill>
              </a:rPr>
              <a:t>Notes rarely explain why something works. Students need web-level explanations, not just bullet points.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9748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234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CB"/>
                </a:solidFill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6364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Poor Retention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2578608"/>
            <a:ext cx="105156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69748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D4E0"/>
                </a:solidFill>
              </a:rPr>
              <a:t>Even understood content fades without structured review. Without a system, 95% is forgotten in 30 days.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99A8"/>
                </a:solidFill>
              </a:rPr>
              <a:t>This project solves all three — with a pipeline of 5 AI agents, RAG, and the SM-2 spaced repetition algorithm.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1508760" cy="219456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984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PDF Upload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313432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PyPDF2 + pdfplumber + Tesseract OCR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64792" y="2103120"/>
            <a:ext cx="173736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CB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65960" y="1234440"/>
            <a:ext cx="1508760" cy="219456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12984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65960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FAISS Vector DB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313432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Gemini Embeddings — persisted to disk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02152" y="2103120"/>
            <a:ext cx="173736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CB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03320" y="1234440"/>
            <a:ext cx="1508760" cy="219456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03320" y="12984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03320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LangGraph Pipeline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2313432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Stateful agent orchestration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39512" y="2103120"/>
            <a:ext cx="173736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CB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0680" y="1234440"/>
            <a:ext cx="1508760" cy="219456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40680" y="12984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40680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SQLite Storage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2313432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All outputs, memory &amp; schedule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76872" y="2103120"/>
            <a:ext cx="173736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CB"/>
                </a:solidFill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78040" y="1234440"/>
            <a:ext cx="1508760" cy="219456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12984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78040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Streamlit UI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2313432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Lazy-loading, streaming, 3 pages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CB"/>
                </a:solidFill>
              </a:rPr>
              <a:t>TECH STACK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3931920"/>
            <a:ext cx="1508760" cy="347472"/>
          </a:xfrm>
          <a:prstGeom prst="rect">
            <a:avLst/>
          </a:prstGeom>
          <a:solidFill>
            <a:srgbClr val="0099A8">
              <a:alpha val="4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931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Groq LLaMA 3.1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65960" y="3931920"/>
            <a:ext cx="1508760" cy="347472"/>
          </a:xfrm>
          <a:prstGeom prst="rect">
            <a:avLst/>
          </a:prstGeom>
          <a:solidFill>
            <a:srgbClr val="0099A8">
              <a:alpha val="4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65960" y="3931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LangChain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03320" y="3931920"/>
            <a:ext cx="1508760" cy="347472"/>
          </a:xfrm>
          <a:prstGeom prst="rect">
            <a:avLst/>
          </a:prstGeom>
          <a:solidFill>
            <a:srgbClr val="0099A8">
              <a:alpha val="4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931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LangGraph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3931920"/>
            <a:ext cx="1508760" cy="347472"/>
          </a:xfrm>
          <a:prstGeom prst="rect">
            <a:avLst/>
          </a:prstGeom>
          <a:solidFill>
            <a:srgbClr val="0099A8">
              <a:alpha val="4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3931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DuckDuckGo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78040" y="3931920"/>
            <a:ext cx="1508760" cy="347472"/>
          </a:xfrm>
          <a:prstGeom prst="rect">
            <a:avLst/>
          </a:prstGeom>
          <a:solidFill>
            <a:srgbClr val="0099A8">
              <a:alpha val="4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78040" y="3931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BeautifulSoup4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Five Specialized AI Agents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Agent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1051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PDF Reader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E0"/>
                </a:solidFill>
              </a:rPr>
              <a:t>Extracts ALL topics, difficulty, prerequisites &amp; study order from your notes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83880" y="1216152"/>
            <a:ext cx="685800" cy="320040"/>
          </a:xfrm>
          <a:prstGeom prst="rect">
            <a:avLst/>
          </a:prstGeom>
          <a:solidFill>
            <a:srgbClr val="0891B2">
              <a:alpha val="3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2161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~10s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819656"/>
            <a:ext cx="54864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19656"/>
            <a:ext cx="8595360" cy="658368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1965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Agent 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18196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Researcher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81965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E0"/>
                </a:solidFill>
              </a:rPr>
              <a:t>Searches GFG, Wikipedia, Programiz — structures clean explanations per topic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83880" y="1984248"/>
            <a:ext cx="685800" cy="320040"/>
          </a:xfrm>
          <a:prstGeom prst="rect">
            <a:avLst/>
          </a:prstGeom>
          <a:solidFill>
            <a:srgbClr val="059669">
              <a:alpha val="3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98424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~15s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2587752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587752"/>
            <a:ext cx="8595360" cy="658368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8775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Agent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25880" y="25877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Notes Analyst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258775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E0"/>
                </a:solidFill>
              </a:rPr>
              <a:t>FAISS-searches your own PDF — explains using your professor's exact words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83880" y="2752344"/>
            <a:ext cx="685800" cy="320040"/>
          </a:xfrm>
          <a:prstGeom prst="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275234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~15s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3355848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355848"/>
            <a:ext cx="8595360" cy="658368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5584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Agent 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25880" y="335584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Synthesizer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335584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E0"/>
                </a:solidFill>
              </a:rPr>
              <a:t>Merges Agents 2+3 into ELI5 + code + quiz + common mistakes per topic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83880" y="3520440"/>
            <a:ext cx="685800" cy="320040"/>
          </a:xfrm>
          <a:prstGeom prst="rect">
            <a:avLst/>
          </a:prstGeom>
          <a:solidFill>
            <a:srgbClr val="DC2626">
              <a:alpha val="30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35204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~20s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4123944"/>
            <a:ext cx="54864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123944"/>
            <a:ext cx="8595360" cy="658368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12394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Agent 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325880" y="412394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Tutor (Chat)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83280" y="412394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E0"/>
                </a:solidFill>
              </a:rPr>
              <a:t>Conversational AI with full memory, context injection — streams like ChatGPT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83880" y="4288536"/>
            <a:ext cx="685800" cy="320040"/>
          </a:xfrm>
          <a:prstGeom prst="rect">
            <a:avLst/>
          </a:prstGeom>
          <a:solidFill>
            <a:srgbClr val="B45309">
              <a:alpha val="30000"/>
            </a:srgbClr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4288536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~3–5s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Lazy Loading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E0"/>
                </a:solidFill>
              </a:rPr>
              <a:t>For a 40-topic PDF, batch processing would take 30+ minutes — making the app unusable during that time.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E0"/>
                </a:solidFill>
              </a:rPr>
              <a:t>Topics appear one-by-one as they finish. Students read from the 30-second mark — not the 30-minute mark. Agent 5 chat is always available, even mid-processing.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097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DELIVERY TIMELINE (40 topics)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53619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45736" y="1737360"/>
            <a:ext cx="36576" cy="274320"/>
          </a:xfrm>
          <a:prstGeom prst="rect">
            <a:avLst/>
          </a:prstGeom>
          <a:solidFill>
            <a:srgbClr val="7FA8C0"/>
          </a:solidFill>
          <a:ln w="12700">
            <a:solidFill>
              <a:srgbClr val="7FA8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63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0:10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23560" y="14630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Agent 1 done — all 40 topics listed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020824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45736" y="2221992"/>
            <a:ext cx="36576" cy="274320"/>
          </a:xfrm>
          <a:prstGeom prst="rect">
            <a:avLst/>
          </a:prstGeom>
          <a:solidFill>
            <a:srgbClr val="7FA8C0"/>
          </a:solidFill>
          <a:ln w="12700">
            <a:solidFill>
              <a:srgbClr val="7FA8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9476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0:30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23560" y="19476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Topic 1 ready — student starts reading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505456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45736" y="2706624"/>
            <a:ext cx="36576" cy="274320"/>
          </a:xfrm>
          <a:prstGeom prst="rect">
            <a:avLst/>
          </a:prstGeom>
          <a:solidFill>
            <a:srgbClr val="7FA8C0"/>
          </a:solidFill>
          <a:ln w="12700">
            <a:solidFill>
              <a:srgbClr val="7FA8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4323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0:50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23560" y="24323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Topic 2 ready — continues in background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0088"/>
            <a:ext cx="201168" cy="201168"/>
          </a:xfrm>
          <a:prstGeom prst="ellipse">
            <a:avLst/>
          </a:prstGeom>
          <a:solidFill>
            <a:srgbClr val="7FA8C0"/>
          </a:solidFill>
          <a:ln w="12700">
            <a:solidFill>
              <a:srgbClr val="7FA8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5736" y="3191256"/>
            <a:ext cx="36576" cy="274320"/>
          </a:xfrm>
          <a:prstGeom prst="rect">
            <a:avLst/>
          </a:prstGeom>
          <a:solidFill>
            <a:srgbClr val="7FA8C0"/>
          </a:solidFill>
          <a:ln w="12700">
            <a:solidFill>
              <a:srgbClr val="7FA8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9169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A8C0"/>
                </a:solidFill>
              </a:rPr>
              <a:t>1:10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23560" y="29169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</a:rPr>
              <a:t>Topic 3 ready — seamless experience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474720"/>
            <a:ext cx="201168" cy="201168"/>
          </a:xfrm>
          <a:prstGeom prst="ellipse">
            <a:avLst/>
          </a:prstGeom>
          <a:solidFill>
            <a:srgbClr val="7FA8C0"/>
          </a:solidFill>
          <a:ln w="12700">
            <a:solidFill>
              <a:srgbClr val="7FA8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45736" y="3675888"/>
            <a:ext cx="36576" cy="274320"/>
          </a:xfrm>
          <a:prstGeom prst="rect">
            <a:avLst/>
          </a:prstGeom>
          <a:solidFill>
            <a:srgbClr val="7FA8C0"/>
          </a:solidFill>
          <a:ln w="12700">
            <a:solidFill>
              <a:srgbClr val="7FA8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4015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A8C0"/>
                </a:solidFill>
              </a:rPr>
              <a:t>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23560" y="3401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</a:rPr>
              <a:t>Processing continues silently...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959352"/>
            <a:ext cx="201168" cy="201168"/>
          </a:xfrm>
          <a:prstGeom prst="ellipse">
            <a:avLst/>
          </a:prstGeom>
          <a:solidFill>
            <a:srgbClr val="7FA8C0"/>
          </a:solidFill>
          <a:ln w="12700">
            <a:solidFill>
              <a:srgbClr val="7FA8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862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A8C0"/>
                </a:solidFill>
              </a:rPr>
              <a:t>30:00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23560" y="38862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</a:rPr>
              <a:t>All 40 topics complete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Spaced Repetition — SM-2 Algorithm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200400"/>
          </a:xfrm>
          <a:prstGeom prst="rect">
            <a:avLst/>
          </a:prstGeom>
          <a:solidFill>
            <a:srgbClr val="0D1B2A"/>
          </a:solidFill>
          <a:ln w="1016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Ebbinghaus Forgetting Curve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822960" cy="18562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58%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547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0"/>
                </a:solidFill>
              </a:rPr>
              <a:t>Day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64792" y="2715768"/>
            <a:ext cx="82296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64792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64792" y="3547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0"/>
                </a:solidFill>
              </a:rPr>
              <a:t>Day 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35224" y="3355848"/>
            <a:ext cx="82296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5224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35224" y="3547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0"/>
                </a:solidFill>
              </a:rPr>
              <a:t>Day 30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A8C0"/>
                </a:solidFill>
              </a:rPr>
              <a:t>Memory retained without review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1097280"/>
            <a:ext cx="4389120" cy="3200400"/>
          </a:xfrm>
          <a:prstGeom prst="rect">
            <a:avLst/>
          </a:prstGeom>
          <a:solidFill>
            <a:srgbClr val="0D1B2A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How SM-2 Works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691640"/>
            <a:ext cx="4069080" cy="530352"/>
          </a:xfrm>
          <a:prstGeom prst="rect">
            <a:avLst/>
          </a:prstGeom>
          <a:solidFill>
            <a:srgbClr val="059669">
              <a:alpha val="15000"/>
            </a:srgbClr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6916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 ≥ 80%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16916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0"/>
                </a:solidFill>
              </a:rPr>
              <a:t>interval × ease_factor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80960" y="16916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59669"/>
                </a:solidFill>
              </a:rPr>
              <a:t>Review less often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2350008"/>
            <a:ext cx="4069080" cy="530352"/>
          </a:xfrm>
          <a:prstGeom prst="rect">
            <a:avLst/>
          </a:prstGeom>
          <a:solidFill>
            <a:srgbClr val="D97706">
              <a:alpha val="15000"/>
            </a:srgbClr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3500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 60–79%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0"/>
                </a:solidFill>
              </a:rPr>
              <a:t>interval × 1.2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80960" y="23500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Slight increase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3008376"/>
            <a:ext cx="4069080" cy="530352"/>
          </a:xfrm>
          <a:prstGeom prst="rect">
            <a:avLst/>
          </a:prstGeom>
          <a:solidFill>
            <a:srgbClr val="DC2626">
              <a:alpha val="15000"/>
            </a:srgbClr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0083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 &lt; 60%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300837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0"/>
                </a:solidFill>
              </a:rPr>
              <a:t>Reset to 1 day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80960" y="30083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More practice needed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63440" y="3685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Typical Progression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39593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Day 1  →  Day 3  →  Day 7  →  Day 14  →  ✅ MASTERED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42245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7FA8C0"/>
                </a:solidFill>
              </a:rPr>
              <a:t>After 5+ reviews with score ≥ 80%, topic is marked mastered &amp; removed from queue.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697480" cy="1645920"/>
          </a:xfrm>
          <a:prstGeom prst="rect">
            <a:avLst/>
          </a:prstGeom>
          <a:solidFill>
            <a:srgbClr val="1E3A52"/>
          </a:solidFill>
          <a:ln w="762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704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Lazy Loading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Topics appear one-by-one — read immediately while pipeline processes the rest in background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697480" cy="1645920"/>
          </a:xfrm>
          <a:prstGeom prst="rect">
            <a:avLst/>
          </a:prstGeom>
          <a:solidFill>
            <a:srgbClr val="1E3A52"/>
          </a:solidFill>
          <a:ln w="762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704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Streaming Chat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99339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Agent 5 streams responses word-by-word, always available — even mid-processing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078992"/>
            <a:ext cx="2697480" cy="1645920"/>
          </a:xfrm>
          <a:prstGeom prst="rect">
            <a:avLst/>
          </a:prstGeom>
          <a:solidFill>
            <a:srgbClr val="1E3A52"/>
          </a:solidFill>
          <a:ln w="762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1704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63640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Full Memory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99339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Complete conversation history across sessions, injected as context every turn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953512"/>
            <a:ext cx="2697480" cy="1645920"/>
          </a:xfrm>
          <a:prstGeom prst="rect">
            <a:avLst/>
          </a:prstGeom>
          <a:solidFill>
            <a:srgbClr val="1E3A52"/>
          </a:solidFill>
          <a:ln w="762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0449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1480" y="35021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SM-2 Spaced Repetition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8679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Same algorithm as Anki — schedules optimal review times, tracks mastery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2953512"/>
            <a:ext cx="2697480" cy="1645920"/>
          </a:xfrm>
          <a:prstGeom prst="rect">
            <a:avLst/>
          </a:prstGeom>
          <a:solidFill>
            <a:srgbClr val="1E3A52"/>
          </a:solidFill>
          <a:ln w="762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30449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37560" y="35021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Live Web Research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8679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Auto-searches GFG, Wikipedia, Programiz per topic — explains using best sources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953512"/>
            <a:ext cx="2697480" cy="1645920"/>
          </a:xfrm>
          <a:prstGeom prst="rect">
            <a:avLst/>
          </a:prstGeom>
          <a:solidFill>
            <a:srgbClr val="1E3A52"/>
          </a:solidFill>
          <a:ln w="762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30449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63640" y="35021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Progress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8679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D4E0"/>
                </a:solidFill>
              </a:rPr>
              <a:t>Topic mastery, quiz scores, upcoming reviews calendar, weak-area tracking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804672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54864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LLM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54480" y="1115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Groq LLaMA 3.1 8B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54480" y="1481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</a:rPr>
              <a:t>Free tier • 14,400 req/day • Fastest inference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206240" cy="804672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78992"/>
            <a:ext cx="54864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7899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Embeddings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89320" y="1115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Google Gemini Embedding-001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1481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</a:rPr>
              <a:t>Free • High-quality semantic search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039112"/>
            <a:ext cx="4206240" cy="804672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39112"/>
            <a:ext cx="54864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3911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Vector DB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4480" y="20756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FAISS (CPU)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54480" y="2441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</a:rPr>
              <a:t>Fast local similarity search • No server needed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039112"/>
            <a:ext cx="4206240" cy="804672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039112"/>
            <a:ext cx="54864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3911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Orchestration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89320" y="20756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LangGraph + LangChain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89320" y="2441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</a:rPr>
              <a:t>State machines for reliable multi-step pipelines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999232"/>
            <a:ext cx="4206240" cy="804672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99232"/>
            <a:ext cx="54864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99923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PDF Parsing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54480" y="30358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PyPDF2 + pdfplumber + Tesseract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54480" y="34015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</a:rPr>
              <a:t>3-method cascade handles any PDF type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999232"/>
            <a:ext cx="4206240" cy="804672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999232"/>
            <a:ext cx="54864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99923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Web Search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89320" y="30358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ddgs + BeautifulSoup4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89320" y="34015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</a:rPr>
              <a:t>Free • No API key • CS-optimized scraping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959352"/>
            <a:ext cx="4206240" cy="804672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959352"/>
            <a:ext cx="54864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95935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Storage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554480" y="3995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SQLite + FAISS (disk)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554480" y="4361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</a:rPr>
              <a:t>Zero-config • All chats survive restarts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959352"/>
            <a:ext cx="4206240" cy="804672"/>
          </a:xfrm>
          <a:prstGeom prst="rect">
            <a:avLst/>
          </a:prstGeom>
          <a:solidFill>
            <a:srgbClr val="0D1B2A"/>
          </a:solidFill>
          <a:ln w="3810">
            <a:solidFill>
              <a:srgbClr val="D4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959352"/>
            <a:ext cx="54864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95935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UI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89320" y="3995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Streamlit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9320" y="4361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</a:rPr>
              <a:t>3-page app • Streaming • Auto-rerun polling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0C2CB">
              <a:alpha val="12000"/>
            </a:srgbClr>
          </a:solidFill>
          <a:ln w="1016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C2CB">
              <a:alpha val="12000"/>
            </a:srgbClr>
          </a:solidFill>
          <a:ln w="1016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One Tool.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2CB"/>
                </a:solidFill>
              </a:rPr>
              <a:t>Three Problems Solved.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280160" y="2514600"/>
            <a:ext cx="2011680" cy="50292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Understand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514600"/>
            <a:ext cx="2011680" cy="50292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Go Deeper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2514600"/>
            <a:ext cx="2011680" cy="502920"/>
          </a:xfrm>
          <a:prstGeom prst="rect">
            <a:avLst/>
          </a:prstGeom>
          <a:solidFill>
            <a:srgbClr val="1E3A52"/>
          </a:solidFill>
          <a:ln w="1016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</a:rPr>
              <a:t>Actually Retain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B8D4E0"/>
                </a:solidFill>
              </a:rPr>
              <a:t>Production-grade multi-agent AI — combining RAG, LangGraph, streaming, and spaced repetition</a:t>
            </a:r>
            <a:endParaRPr lang="en-US" sz="12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B8D4E0"/>
                </a:solidFill>
              </a:rPr>
              <a:t>into a system that actually makes students better.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286000" y="4206240"/>
            <a:ext cx="4572000" cy="5486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⭐  github.com/manvitha2301cs29/Student-Study-Assistant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Study Assistant</dc:title>
  <dc:subject>PptxGenJS Presentation</dc:subject>
  <dc:creator>Manvitha</dc:creator>
  <cp:lastModifiedBy>Manvitha</cp:lastModifiedBy>
  <cp:revision>1</cp:revision>
  <dcterms:created xsi:type="dcterms:W3CDTF">2026-04-11T18:28:48Z</dcterms:created>
  <dcterms:modified xsi:type="dcterms:W3CDTF">2026-04-11T18:28:48Z</dcterms:modified>
</cp:coreProperties>
</file>